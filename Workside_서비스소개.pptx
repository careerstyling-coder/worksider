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77F2"/>
                </a:solidFill>
                <a:latin typeface="Arial"/>
              </a:defRPr>
            </a:pPr>
            <a:r>
              <a:t>Workside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2E"/>
                </a:solidFill>
                <a:latin typeface="Arial"/>
              </a:defRPr>
            </a:pPr>
            <a:r>
              <a:t>나를 발견하는 첫 걸음,</a:t>
            </a:r>
            <a:br/>
            <a:r>
              <a:t>Workstyle DNA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Arial"/>
              </a:defRPr>
            </a:pPr>
            <a:r>
              <a:t>일을 더욱 일답게 하고자 하는 직장인들의 성장 커뮤니티 플랫폼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029200"/>
            <a:ext cx="548640" cy="5486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2026.03  |  Service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77F2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Arial"/>
              </a:defRPr>
            </a:pPr>
            <a:r>
              <a:t>왜 우리는 일할 때 서로를 이해하기 어려울까?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31089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834640"/>
            <a:ext cx="457200" cy="4572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나를 모른다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0233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내가 일을 어떻게 하는 사람인지</a:t>
            </a:r>
            <a:br/>
            <a:r>
              <a:t>설명할 언어가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1089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2834640"/>
            <a:ext cx="457200" cy="4572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다름을 모른다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0233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동료와의 업무 스타일 차이를</a:t>
            </a:r>
            <a:br/>
            <a:r>
              <a:t>갈등으로 오해한다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560320"/>
            <a:ext cx="31089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60" y="2834640"/>
            <a:ext cx="457200" cy="4572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성장 방향을 모른다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0233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나에게 맞는 성장 방법이</a:t>
            </a:r>
            <a:br/>
            <a:r>
              <a:t>무엇인지 알기 어렵다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77F2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Arial"/>
              </a:defRPr>
            </a:pPr>
            <a:r>
              <a:t>Workstyle DNA로 나를 발견하다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Arial"/>
              </a:defRPr>
            </a:pPr>
            <a:r>
              <a:t>4가지 축으로 나의 업무 성향을 과학적으로 분석합니다</a:t>
            </a:r>
          </a:p>
        </p:txBody>
      </p:sp>
      <p:sp>
        <p:nvSpPr>
          <p:cNvPr id="7" name="Oval 6"/>
          <p:cNvSpPr/>
          <p:nvPr/>
        </p:nvSpPr>
        <p:spPr>
          <a:xfrm>
            <a:off x="1645920" y="3017520"/>
            <a:ext cx="640080" cy="64008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Arial"/>
              </a:defRPr>
            </a:pPr>
            <a:r>
              <a:t>실행력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목표 달성과 결과물에</a:t>
            </a:r>
            <a:br/>
            <a:r>
              <a:t>집중하는 성향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3017520"/>
            <a:ext cx="640080" cy="640080"/>
          </a:xfrm>
          <a:prstGeom prst="ellipse">
            <a:avLst/>
          </a:prstGeom>
          <a:solidFill>
            <a:srgbClr val="31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Arial"/>
              </a:defRPr>
            </a:pPr>
            <a:r>
              <a:t>협력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97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동료와의 소통과</a:t>
            </a:r>
            <a:br/>
            <a:r>
              <a:t>팀워크 지향성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3017520"/>
            <a:ext cx="640080" cy="640080"/>
          </a:xfrm>
          <a:prstGeom prst="ellipse">
            <a:avLst/>
          </a:prstGeom>
          <a:solidFill>
            <a:srgbClr val="F7B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Arial"/>
              </a:defRPr>
            </a:pPr>
            <a:r>
              <a:t>영향력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조직 역학을 읽고</a:t>
            </a:r>
            <a:br/>
            <a:r>
              <a:t>관계를 활용하는 능력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0" y="3017520"/>
            <a:ext cx="640080" cy="6400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Arial"/>
              </a:defRPr>
            </a:pPr>
            <a:r>
              <a:t>자율성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297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Arial"/>
              </a:defRPr>
            </a:pPr>
            <a:r>
              <a:t>독립적으로 일하며</a:t>
            </a:r>
            <a:br/>
            <a:r>
              <a:t>자기 주도적 성향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77F2"/>
                </a:solidFill>
                <a:latin typeface="Arial"/>
              </a:defRPr>
            </a:pPr>
            <a:r>
              <a:t>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Arial"/>
              </a:defRPr>
            </a:pPr>
            <a:r>
              <a:t>6가지 업무 페르소나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31089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2651760"/>
            <a:ext cx="73152" cy="109728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Arial"/>
              </a:defRPr>
            </a:pPr>
            <a:r>
              <a:t>전략적 성과자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목표를 향해 달리는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77440"/>
            <a:ext cx="31089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2651760"/>
            <a:ext cx="73152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Arial"/>
              </a:defRPr>
            </a:pPr>
            <a:r>
              <a:t>실무형 전문가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깊이로 승부하는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377440"/>
            <a:ext cx="31089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651760"/>
            <a:ext cx="73152" cy="1097280"/>
          </a:xfrm>
          <a:prstGeom prst="rect">
            <a:avLst/>
          </a:prstGeom>
          <a:solidFill>
            <a:srgbClr val="31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Arial"/>
              </a:defRPr>
            </a:pPr>
            <a:r>
              <a:t>협력적 조정자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함께 만들어가는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89120"/>
            <a:ext cx="31089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4663440"/>
            <a:ext cx="73152" cy="10972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Arial"/>
              </a:defRPr>
            </a:pPr>
            <a:r>
              <a:t>자율형 독립가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내 길을 가는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389120"/>
            <a:ext cx="31089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4663440"/>
            <a:ext cx="73152" cy="1097280"/>
          </a:xfrm>
          <a:prstGeom prst="rect">
            <a:avLst/>
          </a:prstGeom>
          <a:solidFill>
            <a:srgbClr val="F7B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Arial"/>
              </a:defRPr>
            </a:pPr>
            <a:r>
              <a:t>조직형 정치인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303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흐름을 읽는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389120"/>
            <a:ext cx="31089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4663440"/>
            <a:ext cx="73152" cy="10972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Arial"/>
              </a:defRPr>
            </a:pPr>
            <a:r>
              <a:t>중도형 균형가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03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균형을 찾는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77F2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Arial"/>
              </a:defRPr>
            </a:pPr>
            <a:r>
              <a:t>성장의 선순환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560320"/>
            <a:ext cx="731520" cy="73152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Arial"/>
              </a:defRPr>
            </a:pPr>
            <a:r>
              <a:t>발견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Arial"/>
              </a:defRPr>
            </a:pPr>
            <a:r>
              <a:t>DNA 진단으로</a:t>
            </a:r>
            <a:br/>
            <a:r>
              <a:t>나를 이해해요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46320"/>
            <a:ext cx="2194560" cy="10972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29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3분 세미 진단</a:t>
            </a:r>
            <a:br/>
            <a:r>
              <a:t>12문항 리커트 척도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560320"/>
            <a:ext cx="731520" cy="73152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Arial"/>
              </a:defRPr>
            </a:pPr>
            <a:r>
              <a:t>공유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Arial"/>
              </a:defRPr>
            </a:pPr>
            <a:r>
              <a:t>동료와 서로를</a:t>
            </a:r>
            <a:br/>
            <a:r>
              <a:t>이해해요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846320"/>
            <a:ext cx="2194560" cy="10972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029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결과 링크 공유</a:t>
            </a:r>
            <a:br/>
            <a:r>
              <a:t>유형 비교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560320"/>
            <a:ext cx="731520" cy="73152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Arial"/>
              </a:defRPr>
            </a:pPr>
            <a:r>
              <a:t>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Arial"/>
              </a:defRPr>
            </a:pPr>
            <a:r>
              <a:t>함께 고민하고</a:t>
            </a:r>
            <a:br/>
            <a:r>
              <a:t>답을 찾아요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846320"/>
            <a:ext cx="2194560" cy="10972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5029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주간 질문 참여</a:t>
            </a:r>
            <a:br/>
            <a:r>
              <a:t>페르소나별 인사이트</a:t>
            </a:r>
          </a:p>
        </p:txBody>
      </p:sp>
      <p:sp>
        <p:nvSpPr>
          <p:cNvPr id="24" name="Oval 23"/>
          <p:cNvSpPr/>
          <p:nvPr/>
        </p:nvSpPr>
        <p:spPr>
          <a:xfrm>
            <a:off x="10058400" y="2560320"/>
            <a:ext cx="731520" cy="73152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Arial"/>
              </a:defRPr>
            </a:pPr>
            <a:r>
              <a:t>성장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Arial"/>
              </a:defRPr>
            </a:pPr>
            <a:r>
              <a:t>매번 새로운</a:t>
            </a:r>
            <a:br/>
            <a:r>
              <a:t>나를 발견해요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4846320"/>
            <a:ext cx="2194560" cy="10972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5029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재진단으로 변화 추적</a:t>
            </a:r>
            <a:br/>
            <a:r>
              <a:t>커리어 성장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77F2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Arial"/>
              </a:defRPr>
            </a:pPr>
            <a: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Arial"/>
              </a:defRPr>
            </a:pPr>
            <a:r>
              <a:t>Workstyle DNA 진단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743200"/>
            <a:ext cx="109728" cy="109728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1089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3분 세미 / 10분 풀 진단</a:t>
            </a:r>
            <a:br/>
            <a:r>
              <a:t>4축 분석 + 페르소나 판정</a:t>
            </a:r>
            <a:br/>
            <a:r>
              <a:t>레이더 차트 시각화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7744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Arial"/>
              </a:defRPr>
            </a:pPr>
            <a:r>
              <a:t>질문 피드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743200"/>
            <a:ext cx="109728" cy="109728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주간 질문으로 다양한 시각 탐색</a:t>
            </a:r>
            <a:br/>
            <a:r>
              <a:t>페르소나별 응답 인사이트</a:t>
            </a:r>
            <a:br/>
            <a:r>
              <a:t>궁금합니다(제안) + Shout 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7200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8463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Arial"/>
              </a:defRPr>
            </a:pPr>
            <a:r>
              <a:t>결과 공유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937760"/>
            <a:ext cx="109728" cy="109728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3035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고유 링크로 결과 공유</a:t>
            </a:r>
            <a:br/>
            <a:r>
              <a:t>동료와 업무 스타일 비교</a:t>
            </a:r>
            <a:br/>
            <a:r>
              <a:t>팀 내 상호 이해 촉진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57200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8463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Arial"/>
              </a:defRPr>
            </a:pPr>
            <a:r>
              <a:t>관리자 대시보드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937760"/>
            <a:ext cx="109728" cy="109728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3035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실시간 통계 모니터링</a:t>
            </a:r>
            <a:br/>
            <a:r>
              <a:t>질문 생성/배포/마감 관리</a:t>
            </a:r>
            <a:br/>
            <a:r>
              <a:t>사용자 분석 (산업/규모별)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77F2"/>
                </a:solidFill>
                <a:latin typeface="Arial"/>
              </a:defRPr>
            </a:pPr>
            <a: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Arial"/>
              </a:defRPr>
            </a:pPr>
            <a:r>
              <a:t>서비스 화면</a:t>
            </a:r>
          </a:p>
        </p:txBody>
      </p:sp>
      <p:pic>
        <p:nvPicPr>
          <p:cNvPr id="6" name="Picture 5" descr="01-landing-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5303520" cy="3314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43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Landing Page</a:t>
            </a:r>
          </a:p>
        </p:txBody>
      </p:sp>
      <p:pic>
        <p:nvPicPr>
          <p:cNvPr id="8" name="Picture 7" descr="02-about-p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86000"/>
            <a:ext cx="5303520" cy="95242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943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About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77F2"/>
                </a:solidFill>
                <a:latin typeface="Arial"/>
              </a:defRPr>
            </a:pPr>
            <a: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Arial"/>
              </a:defRPr>
            </a:pPr>
            <a:r>
              <a:t>기술 스택 &amp; 인프라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603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560320" cy="54864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Next.js 16 (App Router)</a:t>
            </a:r>
            <a:br/>
            <a:r>
              <a:t>React 19</a:t>
            </a:r>
            <a:br/>
            <a:r>
              <a:t>TailwindCSS 4</a:t>
            </a:r>
            <a:br/>
            <a:r>
              <a:t>Recharts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377440"/>
            <a:ext cx="25603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377440"/>
            <a:ext cx="2560320" cy="54864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0040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Next.js API Routes</a:t>
            </a:r>
            <a:br/>
            <a:r>
              <a:t>Zod Validation</a:t>
            </a:r>
            <a:br/>
            <a:r>
              <a:t>Supabase Auth (JWT)</a:t>
            </a:r>
            <a:br/>
            <a:r>
              <a:t>Row Level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25603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377440"/>
            <a:ext cx="2560320" cy="54864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PostgreSQL 17</a:t>
            </a:r>
            <a:br/>
            <a:r>
              <a:t>11 Tables + RLS</a:t>
            </a:r>
            <a:br/>
            <a:r>
              <a:t>DB Migrations</a:t>
            </a:r>
            <a:br/>
            <a:r>
              <a:t>Real-time Subscriptions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377440"/>
            <a:ext cx="256032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377440"/>
            <a:ext cx="2560320" cy="54864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20040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Vercel (Hosting)</a:t>
            </a:r>
            <a:br/>
            <a:r>
              <a:t>Supabase Cloud (DB)</a:t>
            </a:r>
            <a:br/>
            <a:r>
              <a:t>Auto SSL</a:t>
            </a:r>
            <a:br/>
            <a:r>
              <a:t>CI/CD (git push)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548640" cy="5486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77F2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Arial"/>
              </a:defRPr>
            </a:pPr>
            <a:r>
              <a:t>서비스 확장 로드맵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6517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651760" cy="7315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77F2"/>
                </a:solidFill>
                <a:latin typeface="Arial"/>
              </a:defRPr>
            </a:pPr>
            <a:r>
              <a:t>Phase 1</a:t>
            </a:r>
            <a:br/>
            <a:r>
              <a:t>현재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커뮤니티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DNA 진단 + 질문 피드</a:t>
            </a:r>
            <a:br/>
            <a:r>
              <a:t>제안 시스템</a:t>
            </a:r>
            <a:br/>
            <a:r>
              <a:t>관리자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377440"/>
            <a:ext cx="26517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377440"/>
            <a:ext cx="2651760" cy="73152"/>
          </a:xfrm>
          <a:prstGeom prst="rect">
            <a:avLst/>
          </a:prstGeom>
          <a:solidFill>
            <a:srgbClr val="31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651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1A24C"/>
                </a:solidFill>
                <a:latin typeface="Arial"/>
              </a:defRPr>
            </a:pPr>
            <a:r>
              <a:t>Phase 2</a:t>
            </a:r>
            <a:br/>
            <a:r>
              <a:t>3~6개월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프로필 &amp; 유료화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실명 인증 시스템</a:t>
            </a:r>
            <a:br/>
            <a:r>
              <a:t>포트폴리오 작성/열람</a:t>
            </a:r>
            <a:br/>
            <a:r>
              <a:t>프리미엄 구독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377440"/>
            <a:ext cx="26517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377440"/>
            <a:ext cx="2651760" cy="73152"/>
          </a:xfrm>
          <a:prstGeom prst="rect">
            <a:avLst/>
          </a:prstGeom>
          <a:solidFill>
            <a:srgbClr val="F7B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2651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7B928"/>
                </a:solidFill>
                <a:latin typeface="Arial"/>
              </a:defRPr>
            </a:pPr>
            <a:r>
              <a:t>Phase 3</a:t>
            </a:r>
            <a:br/>
            <a:r>
              <a:t>6~12개월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회사 탐색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조직문화 리포트</a:t>
            </a:r>
            <a:br/>
            <a:r>
              <a:t>회사 탐색 (이직 준비)</a:t>
            </a:r>
            <a:br/>
            <a:r>
              <a:t>참여자 수익 공유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19" y="2377440"/>
            <a:ext cx="26517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19" y="2377440"/>
            <a:ext cx="2651760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39" y="2651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59B6"/>
                </a:solidFill>
                <a:latin typeface="Arial"/>
              </a:defRPr>
            </a:pPr>
            <a:r>
              <a:t>Phase 4</a:t>
            </a:r>
            <a:br/>
            <a:r>
              <a:t>12개월+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39" y="3291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채용 연결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39319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스카웃 제의</a:t>
            </a:r>
            <a:br/>
            <a:r>
              <a:t>면접 요청</a:t>
            </a:r>
            <a:br/>
            <a:r>
              <a:t>매칭 알고리즘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77F2"/>
                </a:solidFill>
                <a:latin typeface="Arial"/>
              </a:defRPr>
            </a:pPr>
            <a:r>
              <a:t>Workside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일하는 방식의 다름을</a:t>
            </a:r>
            <a:br/>
            <a:r>
              <a:t>이해하는 것에서</a:t>
            </a:r>
            <a:br/>
            <a:r>
              <a:t>성장이 시작됩니다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914400" cy="5486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Arial"/>
              </a:defRPr>
            </a:pPr>
            <a:r>
              <a:t>Workside는 직장인의 성장과 커리어를</a:t>
            </a:r>
            <a:br/>
            <a:r>
              <a:t>데이터 기반으로 지원하는 커리어 포탈을 만들어갑니다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77F2"/>
                </a:solidFill>
                <a:latin typeface="Arial"/>
              </a:defRPr>
            </a:pPr>
            <a:r>
              <a:t>workside.day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